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9/6/2025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91779" y="1107347"/>
            <a:ext cx="8963637" cy="2059760"/>
          </a:xfrm>
        </p:spPr>
        <p:txBody>
          <a:bodyPr>
            <a:noAutofit/>
          </a:bodyPr>
          <a:lstStyle/>
          <a:p>
            <a:pPr algn="ctr"/>
            <a:r>
              <a:rPr lang="es-MX" sz="4000" dirty="0" smtClean="0"/>
              <a:t>Análisis de Aplicación del </a:t>
            </a:r>
            <a:br>
              <a:rPr lang="es-MX" sz="4000" dirty="0" smtClean="0"/>
            </a:br>
            <a:r>
              <a:rPr lang="es-MX" sz="4000" b="1" dirty="0" smtClean="0"/>
              <a:t>BIG DATA </a:t>
            </a:r>
            <a:r>
              <a:rPr lang="es-MX" sz="4000" dirty="0" smtClean="0"/>
              <a:t>en la implementación </a:t>
            </a:r>
            <a:br>
              <a:rPr lang="es-MX" sz="4000" dirty="0" smtClean="0"/>
            </a:br>
            <a:r>
              <a:rPr lang="es-MX" sz="4000" dirty="0" smtClean="0"/>
              <a:t>de un </a:t>
            </a:r>
            <a:r>
              <a:rPr lang="es-MX" sz="4000" b="1" dirty="0" smtClean="0"/>
              <a:t>supermercado</a:t>
            </a:r>
            <a:endParaRPr lang="es-PE" sz="4000" b="1" dirty="0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643154" y="3439485"/>
            <a:ext cx="11060885" cy="14853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4000" i="1" dirty="0"/>
              <a:t>predice la demanda, personaliza la experiencia y mejora </a:t>
            </a:r>
            <a:r>
              <a:rPr lang="es-MX" sz="4000" i="1" dirty="0" smtClean="0"/>
              <a:t>inventarios.</a:t>
            </a:r>
            <a:endParaRPr lang="es-PE" sz="4000" b="1" i="1" dirty="0"/>
          </a:p>
        </p:txBody>
      </p:sp>
    </p:spTree>
    <p:extLst>
      <p:ext uri="{BB962C8B-B14F-4D97-AF65-F5344CB8AC3E}">
        <p14:creationId xmlns:p14="http://schemas.microsoft.com/office/powerpoint/2010/main" val="3157663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1400962" y="1401661"/>
            <a:ext cx="5545123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/>
              <a:t>Se recopilan datos históricos y en tiempo real sobre las ventas del supermercado para identificar tendencias de crecimiento o declive en los productos en forma de métricas clave para entrenar y alimentar el modelo predictivo</a:t>
            </a:r>
            <a:r>
              <a:rPr lang="es-MX" sz="2000" dirty="0" smtClean="0"/>
              <a:t>.</a:t>
            </a:r>
          </a:p>
          <a:p>
            <a:endParaRPr lang="es-MX" sz="2000" dirty="0" smtClean="0"/>
          </a:p>
          <a:p>
            <a:endParaRPr lang="es-MX" sz="2000" dirty="0"/>
          </a:p>
          <a:p>
            <a:r>
              <a:rPr lang="es-MX" sz="2000" dirty="0" smtClean="0"/>
              <a:t>En </a:t>
            </a:r>
            <a:r>
              <a:rPr lang="es-MX" sz="2000" dirty="0"/>
              <a:t>este contexto, el uso de Big Data en retail permite obtener aumentos de ventas de entre un 10 % y 20 %, reducir los costos de inventario hasta en un 25 % y mejorar la rotación de stock en un 30 </a:t>
            </a:r>
            <a:r>
              <a:rPr lang="es-MX" sz="2000" dirty="0" smtClean="0"/>
              <a:t>%.</a:t>
            </a:r>
          </a:p>
          <a:p>
            <a:endParaRPr lang="es-MX" dirty="0" smtClean="0"/>
          </a:p>
          <a:p>
            <a:endParaRPr lang="es-PE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0700" y="1401661"/>
            <a:ext cx="3551679" cy="3551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07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1806" y="478172"/>
            <a:ext cx="7692705" cy="1048623"/>
          </a:xfrm>
        </p:spPr>
        <p:txBody>
          <a:bodyPr/>
          <a:lstStyle/>
          <a:p>
            <a:pPr algn="ctr"/>
            <a:r>
              <a:rPr lang="es-MX" b="1" dirty="0" smtClean="0"/>
              <a:t>Arquitectura</a:t>
            </a:r>
            <a:endParaRPr lang="es-PE" b="1" dirty="0"/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1135659" y="1734563"/>
            <a:ext cx="9984997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2400" b="1" dirty="0"/>
              <a:t>Se organiza en cuatro capas principales</a:t>
            </a:r>
            <a:r>
              <a:rPr lang="es-MX" sz="2400" b="1" dirty="0" smtClean="0"/>
              <a:t>:</a:t>
            </a:r>
          </a:p>
          <a:p>
            <a:pPr marL="0" indent="0">
              <a:buNone/>
            </a:pPr>
            <a:endParaRPr lang="es-MX" sz="2400" b="1" dirty="0" smtClean="0"/>
          </a:p>
          <a:p>
            <a:r>
              <a:rPr lang="es-MX" dirty="0" smtClean="0"/>
              <a:t>La ingesta: Que </a:t>
            </a:r>
            <a:r>
              <a:rPr lang="es-MX" dirty="0"/>
              <a:t>recoge información de múltiples fuentes como cajas registradoras, sensores IoT, apps de clientes y redes sociales</a:t>
            </a:r>
            <a:endParaRPr lang="es-MX" dirty="0" smtClean="0"/>
          </a:p>
          <a:p>
            <a:r>
              <a:rPr lang="es-MX" dirty="0" smtClean="0"/>
              <a:t>El almacenamiento: Donde </a:t>
            </a:r>
            <a:r>
              <a:rPr lang="es-MX" dirty="0"/>
              <a:t>se guardan grandes volúmenes de datos de manera escalable en sistemas como HDFS o Amazon </a:t>
            </a:r>
            <a:r>
              <a:rPr lang="es-MX" dirty="0" smtClean="0"/>
              <a:t>S3</a:t>
            </a:r>
          </a:p>
          <a:p>
            <a:r>
              <a:rPr lang="es-MX" dirty="0" smtClean="0"/>
              <a:t>El procesamiento: Que </a:t>
            </a:r>
            <a:r>
              <a:rPr lang="es-MX" dirty="0"/>
              <a:t>transforma y analiza la </a:t>
            </a:r>
            <a:r>
              <a:rPr lang="es-MX" dirty="0" smtClean="0"/>
              <a:t>información para </a:t>
            </a:r>
            <a:r>
              <a:rPr lang="es-MX" dirty="0"/>
              <a:t>tendencias de ventas y reportes </a:t>
            </a:r>
            <a:r>
              <a:rPr lang="es-MX" dirty="0" smtClean="0"/>
              <a:t>históricos </a:t>
            </a:r>
            <a:r>
              <a:rPr lang="es-MX" dirty="0"/>
              <a:t>o </a:t>
            </a:r>
            <a:r>
              <a:rPr lang="es-MX" dirty="0" smtClean="0"/>
              <a:t>monitorear stock y ofertas</a:t>
            </a:r>
          </a:p>
          <a:p>
            <a:r>
              <a:rPr lang="es-MX" dirty="0" smtClean="0"/>
              <a:t>La visualización: Presenta resultados de forma clara en plataformas como </a:t>
            </a:r>
            <a:r>
              <a:rPr lang="es-MX" dirty="0" err="1" smtClean="0"/>
              <a:t>PowerBi</a:t>
            </a:r>
            <a:r>
              <a:rPr lang="es-MX" dirty="0" smtClean="0"/>
              <a:t>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13476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0700" y="588204"/>
            <a:ext cx="8610600" cy="1293028"/>
          </a:xfrm>
        </p:spPr>
        <p:txBody>
          <a:bodyPr/>
          <a:lstStyle/>
          <a:p>
            <a:pPr algn="ctr"/>
            <a:r>
              <a:rPr lang="es-MX" b="1" dirty="0" smtClean="0"/>
              <a:t>Tipos de datos</a:t>
            </a:r>
            <a:endParaRPr lang="es-PE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371075" y="2228116"/>
            <a:ext cx="9449849" cy="3082115"/>
          </a:xfrm>
        </p:spPr>
        <p:txBody>
          <a:bodyPr/>
          <a:lstStyle/>
          <a:p>
            <a:r>
              <a:rPr lang="es-MX" dirty="0" smtClean="0"/>
              <a:t>En </a:t>
            </a:r>
            <a:r>
              <a:rPr lang="es-MX" b="1" dirty="0" smtClean="0"/>
              <a:t>estructurados</a:t>
            </a:r>
            <a:r>
              <a:rPr lang="es-MX" dirty="0" smtClean="0"/>
              <a:t> están los registros </a:t>
            </a:r>
            <a:r>
              <a:rPr lang="es-MX" dirty="0"/>
              <a:t>de ventas diarias o </a:t>
            </a:r>
            <a:r>
              <a:rPr lang="es-MX" dirty="0" smtClean="0"/>
              <a:t>inventario y su </a:t>
            </a:r>
            <a:r>
              <a:rPr lang="es-MX" dirty="0"/>
              <a:t>ventaja es la facilidad de almacenamiento y consulta</a:t>
            </a:r>
            <a:r>
              <a:rPr lang="es-MX" dirty="0" smtClean="0"/>
              <a:t>.</a:t>
            </a:r>
          </a:p>
          <a:p>
            <a:r>
              <a:rPr lang="es-MX" dirty="0"/>
              <a:t>En </a:t>
            </a:r>
            <a:r>
              <a:rPr lang="es-MX" b="1" dirty="0"/>
              <a:t>semi-estructurados</a:t>
            </a:r>
            <a:r>
              <a:rPr lang="es-MX" dirty="0"/>
              <a:t> </a:t>
            </a:r>
            <a:r>
              <a:rPr lang="es-MX" dirty="0" smtClean="0"/>
              <a:t>como </a:t>
            </a:r>
            <a:r>
              <a:rPr lang="es-MX" dirty="0"/>
              <a:t>archivos JSON de compras en línea o tickets </a:t>
            </a:r>
            <a:r>
              <a:rPr lang="es-MX" dirty="0" smtClean="0"/>
              <a:t>electrónicos pero su </a:t>
            </a:r>
            <a:r>
              <a:rPr lang="es-MX" dirty="0"/>
              <a:t>ventaja es la adaptabilidad para integrar múltiples </a:t>
            </a:r>
            <a:r>
              <a:rPr lang="es-MX" dirty="0" smtClean="0"/>
              <a:t>fuentes.</a:t>
            </a:r>
          </a:p>
          <a:p>
            <a:r>
              <a:rPr lang="es-MX" dirty="0" smtClean="0"/>
              <a:t>En </a:t>
            </a:r>
            <a:r>
              <a:rPr lang="es-MX" b="1" dirty="0" smtClean="0"/>
              <a:t>no estructurados </a:t>
            </a:r>
            <a:r>
              <a:rPr lang="es-MX" dirty="0" smtClean="0"/>
              <a:t>están las opiniones de clientes en redes, grabaciones </a:t>
            </a:r>
            <a:r>
              <a:rPr lang="es-MX" dirty="0"/>
              <a:t>de cámaras y su ventaja es aportan información </a:t>
            </a:r>
            <a:r>
              <a:rPr lang="es-MX" dirty="0" smtClean="0"/>
              <a:t>para </a:t>
            </a:r>
            <a:r>
              <a:rPr lang="es-MX" dirty="0"/>
              <a:t>comprender patrones de </a:t>
            </a:r>
            <a:r>
              <a:rPr lang="es-MX" dirty="0" smtClean="0"/>
              <a:t>consumo.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92059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2084" y="504314"/>
            <a:ext cx="8610600" cy="1293028"/>
          </a:xfrm>
        </p:spPr>
        <p:txBody>
          <a:bodyPr/>
          <a:lstStyle/>
          <a:p>
            <a:pPr algn="ctr"/>
            <a:r>
              <a:rPr lang="es-MX" b="1" dirty="0"/>
              <a:t>fase </a:t>
            </a:r>
            <a:r>
              <a:rPr lang="es-MX" b="1" dirty="0" smtClean="0"/>
              <a:t>descriptiva</a:t>
            </a:r>
            <a:endParaRPr lang="es-PE" b="1" dirty="0"/>
          </a:p>
        </p:txBody>
      </p:sp>
      <p:sp>
        <p:nvSpPr>
          <p:cNvPr id="5" name="Marcador de contenido 2"/>
          <p:cNvSpPr>
            <a:spLocks noGrp="1"/>
          </p:cNvSpPr>
          <p:nvPr>
            <p:ph idx="1"/>
          </p:nvPr>
        </p:nvSpPr>
        <p:spPr>
          <a:xfrm>
            <a:off x="1612084" y="1841385"/>
            <a:ext cx="5104002" cy="4024125"/>
          </a:xfrm>
        </p:spPr>
        <p:txBody>
          <a:bodyPr/>
          <a:lstStyle/>
          <a:p>
            <a:endParaRPr lang="es-MX" sz="1600" dirty="0"/>
          </a:p>
          <a:p>
            <a:endParaRPr lang="es-MX" dirty="0"/>
          </a:p>
          <a:p>
            <a:endParaRPr lang="es-PE" dirty="0"/>
          </a:p>
        </p:txBody>
      </p:sp>
      <p:sp>
        <p:nvSpPr>
          <p:cNvPr id="7" name="Marcador de contenido 2"/>
          <p:cNvSpPr txBox="1">
            <a:spLocks/>
          </p:cNvSpPr>
          <p:nvPr/>
        </p:nvSpPr>
        <p:spPr>
          <a:xfrm>
            <a:off x="1442556" y="1797342"/>
            <a:ext cx="8949655" cy="436017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En leches blancas, las promociones generaron ventas incrementales hasta 36</a:t>
            </a:r>
            <a:r>
              <a:rPr lang="es-MX" dirty="0" smtClean="0"/>
              <a:t>%.</a:t>
            </a:r>
            <a:endParaRPr lang="es-MX" dirty="0"/>
          </a:p>
          <a:p>
            <a:r>
              <a:rPr lang="es-MX" dirty="0"/>
              <a:t>6% – 25% atribuibles a sobreabastecimiento</a:t>
            </a:r>
            <a:r>
              <a:rPr lang="es-MX" dirty="0" smtClean="0"/>
              <a:t>.</a:t>
            </a:r>
            <a:endParaRPr lang="es-MX" dirty="0"/>
          </a:p>
          <a:p>
            <a:r>
              <a:rPr lang="es-MX" dirty="0"/>
              <a:t>28% – 49% atribuibles a cambio de marca</a:t>
            </a:r>
            <a:r>
              <a:rPr lang="es-MX" dirty="0" smtClean="0"/>
              <a:t>.</a:t>
            </a:r>
            <a:endParaRPr lang="es-MX" dirty="0"/>
          </a:p>
          <a:p>
            <a:r>
              <a:rPr lang="es-MX" dirty="0"/>
              <a:t>En bebidas en botella, las promociones generaron +17% en subcategoría frutales</a:t>
            </a:r>
            <a:r>
              <a:rPr lang="es-MX" dirty="0" smtClean="0"/>
              <a:t>.</a:t>
            </a:r>
            <a:endParaRPr lang="es-MX" dirty="0"/>
          </a:p>
          <a:p>
            <a:r>
              <a:rPr lang="es-MX" dirty="0"/>
              <a:t>46% – 74% de incremento explicado por cambio de marca (debido a productos sustitutos</a:t>
            </a:r>
            <a:r>
              <a:rPr lang="es-MX" dirty="0" smtClean="0"/>
              <a:t>).</a:t>
            </a:r>
            <a:endParaRPr lang="es-MX" dirty="0"/>
          </a:p>
          <a:p>
            <a:r>
              <a:rPr lang="es-MX" dirty="0"/>
              <a:t>En 50 de 56 promociones analizadas, la metodología de la compañía sobreestimó el efecto real de las promociones</a:t>
            </a:r>
          </a:p>
          <a:p>
            <a:pPr marL="0" indent="0">
              <a:buNone/>
            </a:pPr>
            <a:endParaRPr lang="es-MX" dirty="0" smtClean="0"/>
          </a:p>
          <a:p>
            <a:pPr marL="0" indent="0">
              <a:buNone/>
            </a:pPr>
            <a:r>
              <a:rPr lang="es-MX" dirty="0" smtClean="0"/>
              <a:t>https</a:t>
            </a:r>
            <a:r>
              <a:rPr lang="es-MX" dirty="0"/>
              <a:t>://repositorio.uchile.cl/bitstream/handle/2250/108168/garcia_m.pdf?sequence=3 </a:t>
            </a:r>
            <a:endParaRPr lang="es-MX" dirty="0" smtClean="0"/>
          </a:p>
        </p:txBody>
      </p:sp>
    </p:spTree>
    <p:extLst>
      <p:ext uri="{BB962C8B-B14F-4D97-AF65-F5344CB8AC3E}">
        <p14:creationId xmlns:p14="http://schemas.microsoft.com/office/powerpoint/2010/main" val="615928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0700" y="638538"/>
            <a:ext cx="8610600" cy="1293028"/>
          </a:xfrm>
        </p:spPr>
        <p:txBody>
          <a:bodyPr/>
          <a:lstStyle/>
          <a:p>
            <a:pPr algn="ctr"/>
            <a:r>
              <a:rPr lang="es-MX" b="1" dirty="0"/>
              <a:t>fase </a:t>
            </a:r>
            <a:r>
              <a:rPr lang="es-MX" b="1" dirty="0" smtClean="0"/>
              <a:t>diagnostica</a:t>
            </a:r>
            <a:endParaRPr lang="es-PE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561750" y="2290195"/>
            <a:ext cx="9068500" cy="3120704"/>
          </a:xfrm>
        </p:spPr>
        <p:txBody>
          <a:bodyPr>
            <a:normAutofit/>
          </a:bodyPr>
          <a:lstStyle/>
          <a:p>
            <a:r>
              <a:rPr lang="es-MX" dirty="0"/>
              <a:t>Se identificó que parte de las ventas incrementales en leches blancas se debieron a sobreabastecimiento de clientes, lo cual no genera consumo real sostenido</a:t>
            </a:r>
            <a:r>
              <a:rPr lang="es-MX" dirty="0" smtClean="0"/>
              <a:t>.</a:t>
            </a:r>
            <a:endParaRPr lang="es-MX" dirty="0"/>
          </a:p>
          <a:p>
            <a:r>
              <a:rPr lang="es-MX" dirty="0"/>
              <a:t>En bebidas en botella, el aumento respondió principalmente a cambio de marca, reflejando alta sustitución entre productos similares</a:t>
            </a:r>
            <a:r>
              <a:rPr lang="es-MX" dirty="0" smtClean="0"/>
              <a:t>.</a:t>
            </a:r>
            <a:endParaRPr lang="es-MX" dirty="0"/>
          </a:p>
          <a:p>
            <a:r>
              <a:rPr lang="es-MX" dirty="0"/>
              <a:t>La metodología previa de la compañía sobreestimaba el impacto de las promociones, generando decisiones poco precisas en planificación de stock y marketing.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48372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0700" y="621760"/>
            <a:ext cx="8610600" cy="1293028"/>
          </a:xfrm>
        </p:spPr>
        <p:txBody>
          <a:bodyPr/>
          <a:lstStyle/>
          <a:p>
            <a:pPr algn="ctr"/>
            <a:r>
              <a:rPr lang="es-MX" b="1" dirty="0"/>
              <a:t>fase</a:t>
            </a:r>
            <a:r>
              <a:rPr lang="es-MX" b="1" dirty="0" smtClean="0"/>
              <a:t> predictiva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702964" y="2219727"/>
            <a:ext cx="9202723" cy="3417675"/>
          </a:xfrm>
        </p:spPr>
        <p:txBody>
          <a:bodyPr>
            <a:normAutofit/>
          </a:bodyPr>
          <a:lstStyle/>
          <a:p>
            <a:r>
              <a:rPr lang="es-MX" dirty="0" smtClean="0"/>
              <a:t>Los </a:t>
            </a:r>
            <a:r>
              <a:rPr lang="es-MX" dirty="0"/>
              <a:t>modelos predicen que las promociones en leches blancas seguirán generando incrementos, pero gran parte de ellos serán poco sostenibles por sobreabastecimiento</a:t>
            </a:r>
            <a:r>
              <a:rPr lang="es-MX" dirty="0" smtClean="0"/>
              <a:t>.</a:t>
            </a:r>
            <a:endParaRPr lang="es-MX" dirty="0"/>
          </a:p>
          <a:p>
            <a:r>
              <a:rPr lang="es-MX" dirty="0"/>
              <a:t>En bebidas en botella, se proyecta que el cambio de marca seguirá siendo el principal efecto, con un rango esperado de 45% – 70% de las ventas incrementales</a:t>
            </a:r>
            <a:r>
              <a:rPr lang="es-MX" dirty="0" smtClean="0"/>
              <a:t>.</a:t>
            </a:r>
            <a:endParaRPr lang="es-MX" dirty="0"/>
          </a:p>
          <a:p>
            <a:r>
              <a:rPr lang="es-MX" dirty="0"/>
              <a:t>Se anticipa que la sobreestimación del impacto de promociones continuará si no se ajusta la metodología de análisis.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584300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0700" y="613371"/>
            <a:ext cx="8610600" cy="1293028"/>
          </a:xfrm>
        </p:spPr>
        <p:txBody>
          <a:bodyPr/>
          <a:lstStyle/>
          <a:p>
            <a:pPr algn="ctr"/>
            <a:r>
              <a:rPr lang="es-MX" b="1" dirty="0" smtClean="0"/>
              <a:t>fase prescriptiva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790700" y="2110669"/>
            <a:ext cx="8760204" cy="3635789"/>
          </a:xfrm>
        </p:spPr>
        <p:txBody>
          <a:bodyPr>
            <a:normAutofit/>
          </a:bodyPr>
          <a:lstStyle/>
          <a:p>
            <a:r>
              <a:rPr lang="es-MX" dirty="0"/>
              <a:t>Ajustar la metodología de medición de promociones para evitar sobreestimaciones</a:t>
            </a:r>
            <a:r>
              <a:rPr lang="es-MX" dirty="0" smtClean="0"/>
              <a:t>.</a:t>
            </a:r>
            <a:endParaRPr lang="es-MX" dirty="0"/>
          </a:p>
          <a:p>
            <a:r>
              <a:rPr lang="es-MX" dirty="0"/>
              <a:t>En leches blancas, recomendar promociones moderadas y control de stock para reducir el efecto de sobreabastecimiento</a:t>
            </a:r>
            <a:r>
              <a:rPr lang="es-MX" dirty="0" smtClean="0"/>
              <a:t>.</a:t>
            </a:r>
            <a:endParaRPr lang="es-MX" dirty="0"/>
          </a:p>
          <a:p>
            <a:r>
              <a:rPr lang="es-MX" dirty="0"/>
              <a:t>En bebidas en botella, diversificar promociones entre tamaños y sabores para aprovechar el cambio de marca sin canibalizar ventas</a:t>
            </a:r>
            <a:r>
              <a:rPr lang="es-MX" dirty="0" smtClean="0"/>
              <a:t>.</a:t>
            </a:r>
            <a:endParaRPr lang="es-MX" dirty="0"/>
          </a:p>
          <a:p>
            <a:r>
              <a:rPr lang="es-MX" dirty="0"/>
              <a:t>Implementar un sistema analítico en tiempo real que apoye la toma de decisiones de marketing e inventario.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709218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32727" y="2836454"/>
            <a:ext cx="1565246" cy="1293028"/>
          </a:xfrm>
        </p:spPr>
        <p:txBody>
          <a:bodyPr>
            <a:normAutofit/>
          </a:bodyPr>
          <a:lstStyle/>
          <a:p>
            <a:r>
              <a:rPr lang="es-MX" sz="5000" b="1" dirty="0" smtClean="0"/>
              <a:t>FIN</a:t>
            </a:r>
            <a:endParaRPr lang="es-PE" sz="5000" b="1" dirty="0"/>
          </a:p>
        </p:txBody>
      </p:sp>
    </p:spTree>
    <p:extLst>
      <p:ext uri="{BB962C8B-B14F-4D97-AF65-F5344CB8AC3E}">
        <p14:creationId xmlns:p14="http://schemas.microsoft.com/office/powerpoint/2010/main" val="2552978148"/>
      </p:ext>
    </p:extLst>
  </p:cSld>
  <p:clrMapOvr>
    <a:masterClrMapping/>
  </p:clrMapOvr>
</p:sld>
</file>

<file path=ppt/theme/theme1.xml><?xml version="1.0" encoding="utf-8"?>
<a:theme xmlns:a="http://schemas.openxmlformats.org/drawingml/2006/main" name="Estela de condensación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TM04033937[[fn=Estela de condensación]]</Template>
  <TotalTime>121</TotalTime>
  <Words>563</Words>
  <Application>Microsoft Office PowerPoint</Application>
  <PresentationFormat>Panorámica</PresentationFormat>
  <Paragraphs>41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Century Gothic</vt:lpstr>
      <vt:lpstr>Estela de condensación</vt:lpstr>
      <vt:lpstr>Análisis de Aplicación del  BIG DATA en la implementación  de un supermercado</vt:lpstr>
      <vt:lpstr>Presentación de PowerPoint</vt:lpstr>
      <vt:lpstr>Arquitectura</vt:lpstr>
      <vt:lpstr>Tipos de datos</vt:lpstr>
      <vt:lpstr>fase descriptiva</vt:lpstr>
      <vt:lpstr>fase diagnostica</vt:lpstr>
      <vt:lpstr>fase predictiva</vt:lpstr>
      <vt:lpstr>fase prescriptiva</vt:lpstr>
      <vt:lpstr>FIN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Aplicación del  BIG DATA en la implementación de un supermercado</dc:title>
  <dc:creator>Estudiante</dc:creator>
  <cp:lastModifiedBy>Estudiante</cp:lastModifiedBy>
  <cp:revision>18</cp:revision>
  <dcterms:created xsi:type="dcterms:W3CDTF">2025-08-31T16:12:09Z</dcterms:created>
  <dcterms:modified xsi:type="dcterms:W3CDTF">2025-09-07T01:47:47Z</dcterms:modified>
</cp:coreProperties>
</file>
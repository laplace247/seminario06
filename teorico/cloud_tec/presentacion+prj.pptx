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215501" y="2970276"/>
            <a:ext cx="2976880" cy="3207385"/>
          </a:xfrm>
          <a:custGeom>
            <a:avLst/>
            <a:gdLst/>
            <a:ahLst/>
            <a:cxnLst/>
            <a:rect l="l" t="t" r="r" b="b"/>
            <a:pathLst>
              <a:path w="2976879" h="3207385">
                <a:moveTo>
                  <a:pt x="2976499" y="0"/>
                </a:moveTo>
                <a:lnTo>
                  <a:pt x="2066925" y="909574"/>
                </a:lnTo>
              </a:path>
              <a:path w="2976879" h="3207385">
                <a:moveTo>
                  <a:pt x="2976499" y="230758"/>
                </a:moveTo>
                <a:lnTo>
                  <a:pt x="0" y="3207219"/>
                </a:lnTo>
              </a:path>
              <a:path w="2976879" h="3207385">
                <a:moveTo>
                  <a:pt x="2976499" y="326517"/>
                </a:moveTo>
                <a:lnTo>
                  <a:pt x="1085850" y="2217166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444226" y="3138551"/>
            <a:ext cx="1746250" cy="1822450"/>
          </a:xfrm>
          <a:custGeom>
            <a:avLst/>
            <a:gdLst/>
            <a:ahLst/>
            <a:cxnLst/>
            <a:rect l="l" t="t" r="r" b="b"/>
            <a:pathLst>
              <a:path w="1746250" h="1822450">
                <a:moveTo>
                  <a:pt x="1745615" y="0"/>
                </a:moveTo>
                <a:lnTo>
                  <a:pt x="0" y="1745615"/>
                </a:lnTo>
              </a:path>
              <a:path w="1746250" h="1822450">
                <a:moveTo>
                  <a:pt x="1746250" y="552450"/>
                </a:moveTo>
                <a:lnTo>
                  <a:pt x="476250" y="1822323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300" y="942975"/>
            <a:ext cx="1276350" cy="469582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2650" y="2552700"/>
            <a:ext cx="3171825" cy="1524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52650" y="942975"/>
            <a:ext cx="1666875" cy="16097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2530" y="2836227"/>
            <a:ext cx="2886709" cy="944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215501" y="2970276"/>
            <a:ext cx="2976880" cy="3207385"/>
          </a:xfrm>
          <a:custGeom>
            <a:avLst/>
            <a:gdLst/>
            <a:ahLst/>
            <a:cxnLst/>
            <a:rect l="l" t="t" r="r" b="b"/>
            <a:pathLst>
              <a:path w="2976879" h="3207385">
                <a:moveTo>
                  <a:pt x="2976499" y="0"/>
                </a:moveTo>
                <a:lnTo>
                  <a:pt x="2066925" y="909574"/>
                </a:lnTo>
              </a:path>
              <a:path w="2976879" h="3207385">
                <a:moveTo>
                  <a:pt x="2976499" y="230758"/>
                </a:moveTo>
                <a:lnTo>
                  <a:pt x="0" y="3207219"/>
                </a:lnTo>
              </a:path>
              <a:path w="2976879" h="3207385">
                <a:moveTo>
                  <a:pt x="2976499" y="326517"/>
                </a:moveTo>
                <a:lnTo>
                  <a:pt x="1085850" y="2217166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444226" y="3138551"/>
            <a:ext cx="1746250" cy="1822450"/>
          </a:xfrm>
          <a:custGeom>
            <a:avLst/>
            <a:gdLst/>
            <a:ahLst/>
            <a:cxnLst/>
            <a:rect l="l" t="t" r="r" b="b"/>
            <a:pathLst>
              <a:path w="1746250" h="1822450">
                <a:moveTo>
                  <a:pt x="1745615" y="0"/>
                </a:moveTo>
                <a:lnTo>
                  <a:pt x="0" y="1745615"/>
                </a:lnTo>
              </a:path>
              <a:path w="1746250" h="1822450">
                <a:moveTo>
                  <a:pt x="1746250" y="552450"/>
                </a:moveTo>
                <a:lnTo>
                  <a:pt x="476250" y="1822323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3587" y="4676394"/>
            <a:ext cx="6073775" cy="1128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jpg"/><Relationship Id="rId4" Type="http://schemas.openxmlformats.org/officeDocument/2006/relationships/image" Target="../media/image3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207875" cy="6858000"/>
            <a:chOff x="0" y="0"/>
            <a:chExt cx="12207875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110351" y="14350"/>
              <a:ext cx="6082030" cy="6166485"/>
            </a:xfrm>
            <a:custGeom>
              <a:avLst/>
              <a:gdLst/>
              <a:ahLst/>
              <a:cxnLst/>
              <a:rect l="l" t="t" r="r" b="b"/>
              <a:pathLst>
                <a:path w="6082030" h="6166485">
                  <a:moveTo>
                    <a:pt x="5934075" y="0"/>
                  </a:moveTo>
                  <a:lnTo>
                    <a:pt x="2124075" y="3809873"/>
                  </a:lnTo>
                </a:path>
                <a:path w="6082030" h="6166485">
                  <a:moveTo>
                    <a:pt x="6080633" y="85725"/>
                  </a:moveTo>
                  <a:lnTo>
                    <a:pt x="0" y="6166319"/>
                  </a:lnTo>
                </a:path>
                <a:path w="6082030" h="6166485">
                  <a:moveTo>
                    <a:pt x="6081649" y="223900"/>
                  </a:moveTo>
                  <a:lnTo>
                    <a:pt x="1133475" y="51719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339076" y="33401"/>
              <a:ext cx="4853305" cy="4924425"/>
            </a:xfrm>
            <a:custGeom>
              <a:avLst/>
              <a:gdLst/>
              <a:ahLst/>
              <a:cxnLst/>
              <a:rect l="l" t="t" r="r" b="b"/>
              <a:pathLst>
                <a:path w="4853305" h="4924425">
                  <a:moveTo>
                    <a:pt x="4852924" y="0"/>
                  </a:moveTo>
                  <a:lnTo>
                    <a:pt x="0" y="4852924"/>
                  </a:lnTo>
                </a:path>
                <a:path w="4853305" h="4924425">
                  <a:moveTo>
                    <a:pt x="4852924" y="585850"/>
                  </a:moveTo>
                  <a:lnTo>
                    <a:pt x="514350" y="4924298"/>
                  </a:lnTo>
                </a:path>
              </a:pathLst>
            </a:custGeom>
            <a:ln w="317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63587" y="2861881"/>
            <a:ext cx="5575300" cy="7581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800" spc="-475" b="1">
                <a:latin typeface="Tahoma"/>
                <a:cs typeface="Tahoma"/>
              </a:rPr>
              <a:t>SISTEMA</a:t>
            </a:r>
            <a:r>
              <a:rPr dirty="0" sz="4800" spc="-10" b="1">
                <a:latin typeface="Tahoma"/>
                <a:cs typeface="Tahoma"/>
              </a:rPr>
              <a:t> </a:t>
            </a:r>
            <a:r>
              <a:rPr dirty="0" sz="4800" spc="-480" b="1">
                <a:latin typeface="Tahoma"/>
                <a:cs typeface="Tahoma"/>
              </a:rPr>
              <a:t>SENTINELA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3587" y="3726116"/>
            <a:ext cx="3309620" cy="141795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2100" spc="-10">
                <a:solidFill>
                  <a:srgbClr val="FF0000"/>
                </a:solidFill>
                <a:latin typeface="Trebuchet MS"/>
                <a:cs typeface="Trebuchet MS"/>
              </a:rPr>
              <a:t>Autores</a:t>
            </a:r>
            <a:r>
              <a:rPr dirty="0" sz="2100" spc="-10">
                <a:solidFill>
                  <a:srgbClr val="0E486E"/>
                </a:solidFill>
                <a:latin typeface="Trebuchet MS"/>
                <a:cs typeface="Trebuchet MS"/>
              </a:rPr>
              <a:t>: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43100"/>
              </a:lnSpc>
              <a:spcBef>
                <a:spcPts val="75"/>
              </a:spcBef>
            </a:pPr>
            <a:r>
              <a:rPr dirty="0" sz="2100" spc="145">
                <a:solidFill>
                  <a:srgbClr val="FFFFFF"/>
                </a:solidFill>
                <a:latin typeface="Trebuchet MS"/>
                <a:cs typeface="Trebuchet MS"/>
              </a:rPr>
              <a:t>Juan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Piero</a:t>
            </a:r>
            <a:r>
              <a:rPr dirty="0" sz="21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145">
                <a:solidFill>
                  <a:srgbClr val="FFFFFF"/>
                </a:solidFill>
                <a:latin typeface="Trebuchet MS"/>
                <a:cs typeface="Trebuchet MS"/>
              </a:rPr>
              <a:t>Vincha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65">
                <a:solidFill>
                  <a:srgbClr val="FFFFFF"/>
                </a:solidFill>
                <a:latin typeface="Trebuchet MS"/>
                <a:cs typeface="Trebuchet MS"/>
              </a:rPr>
              <a:t>Loza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Duilio</a:t>
            </a:r>
            <a:r>
              <a:rPr dirty="0" sz="21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195">
                <a:solidFill>
                  <a:srgbClr val="FFFFFF"/>
                </a:solidFill>
                <a:latin typeface="Trebuchet MS"/>
                <a:cs typeface="Trebuchet MS"/>
              </a:rPr>
              <a:t>Omar</a:t>
            </a:r>
            <a:r>
              <a:rPr dirty="0" sz="21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Flores</a:t>
            </a:r>
            <a:r>
              <a:rPr dirty="0" sz="21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114">
                <a:solidFill>
                  <a:srgbClr val="FFFFFF"/>
                </a:solidFill>
                <a:latin typeface="Trebuchet MS"/>
                <a:cs typeface="Trebuchet MS"/>
              </a:rPr>
              <a:t>Quispe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750" y="162909"/>
            <a:ext cx="10004241" cy="64848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754" y="69623"/>
            <a:ext cx="296091" cy="41774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514" y="0"/>
            <a:ext cx="10920548" cy="68579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88508" y="521568"/>
            <a:ext cx="2251710" cy="7943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50" spc="-55">
                <a:solidFill>
                  <a:srgbClr val="000000"/>
                </a:solidFill>
                <a:latin typeface="Calibri"/>
                <a:cs typeface="Calibri"/>
              </a:rPr>
              <a:t>hc-</a:t>
            </a:r>
            <a:r>
              <a:rPr dirty="0" sz="5050" spc="-10">
                <a:solidFill>
                  <a:srgbClr val="000000"/>
                </a:solidFill>
                <a:latin typeface="Calibri"/>
                <a:cs typeface="Calibri"/>
              </a:rPr>
              <a:t>sr501</a:t>
            </a:r>
            <a:endParaRPr sz="5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658645" y="5469421"/>
            <a:ext cx="3464560" cy="9563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955" marR="5080" indent="-8890">
              <a:lnSpc>
                <a:spcPct val="105000"/>
              </a:lnSpc>
              <a:spcBef>
                <a:spcPts val="130"/>
              </a:spcBef>
            </a:pPr>
            <a:r>
              <a:rPr dirty="0" sz="1850">
                <a:latin typeface="Calibri"/>
                <a:cs typeface="Calibri"/>
              </a:rPr>
              <a:t>Detecta</a:t>
            </a:r>
            <a:r>
              <a:rPr dirty="0" sz="1850" spc="385">
                <a:latin typeface="Calibri"/>
                <a:cs typeface="Calibri"/>
              </a:rPr>
              <a:t> </a:t>
            </a:r>
            <a:r>
              <a:rPr dirty="0" sz="1850" spc="-50">
                <a:latin typeface="Calibri"/>
                <a:cs typeface="Calibri"/>
              </a:rPr>
              <a:t>/TiOVimiento</a:t>
            </a:r>
            <a:r>
              <a:rPr dirty="0" sz="1850" spc="335">
                <a:latin typeface="Calibri"/>
                <a:cs typeface="Calibri"/>
              </a:rPr>
              <a:t> </a:t>
            </a:r>
            <a:r>
              <a:rPr dirty="0" sz="1850" spc="45">
                <a:latin typeface="Calibri"/>
                <a:cs typeface="Calibri"/>
              </a:rPr>
              <a:t>midiendo </a:t>
            </a:r>
            <a:r>
              <a:rPr dirty="0" sz="1950">
                <a:latin typeface="Calibri"/>
                <a:cs typeface="Calibri"/>
              </a:rPr>
              <a:t>cambios</a:t>
            </a:r>
            <a:r>
              <a:rPr dirty="0" sz="1950" spc="55">
                <a:latin typeface="Calibri"/>
                <a:cs typeface="Calibri"/>
              </a:rPr>
              <a:t> en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la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radiación</a:t>
            </a:r>
            <a:r>
              <a:rPr dirty="0" sz="1950" spc="140">
                <a:latin typeface="Calibri"/>
                <a:cs typeface="Calibri"/>
              </a:rPr>
              <a:t> </a:t>
            </a:r>
            <a:r>
              <a:rPr dirty="0" sz="1950" spc="-110">
                <a:latin typeface="Calibri"/>
                <a:cs typeface="Calibri"/>
              </a:rPr>
              <a:t>infra££O/á </a:t>
            </a:r>
            <a:r>
              <a:rPr dirty="0" sz="2000" spc="-10">
                <a:latin typeface="Calibri"/>
                <a:cs typeface="Calibri"/>
              </a:rPr>
              <a:t>emitida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120">
                <a:latin typeface="Calibri"/>
                <a:cs typeface="Calibri"/>
              </a:rPr>
              <a:t>pOr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cuerpos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calientes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205335" cy="6858000"/>
            <a:chOff x="0" y="0"/>
            <a:chExt cx="12205335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15501" y="2970276"/>
              <a:ext cx="2976880" cy="3207385"/>
            </a:xfrm>
            <a:custGeom>
              <a:avLst/>
              <a:gdLst/>
              <a:ahLst/>
              <a:cxnLst/>
              <a:rect l="l" t="t" r="r" b="b"/>
              <a:pathLst>
                <a:path w="2976879" h="3207385">
                  <a:moveTo>
                    <a:pt x="2976499" y="0"/>
                  </a:moveTo>
                  <a:lnTo>
                    <a:pt x="2066925" y="909574"/>
                  </a:lnTo>
                </a:path>
                <a:path w="2976879" h="3207385">
                  <a:moveTo>
                    <a:pt x="2976499" y="230758"/>
                  </a:moveTo>
                  <a:lnTo>
                    <a:pt x="0" y="3207219"/>
                  </a:lnTo>
                </a:path>
                <a:path w="2976879" h="3207385">
                  <a:moveTo>
                    <a:pt x="2976499" y="326517"/>
                  </a:moveTo>
                  <a:lnTo>
                    <a:pt x="1085850" y="2217166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444226" y="3138551"/>
              <a:ext cx="1746250" cy="1822450"/>
            </a:xfrm>
            <a:custGeom>
              <a:avLst/>
              <a:gdLst/>
              <a:ahLst/>
              <a:cxnLst/>
              <a:rect l="l" t="t" r="r" b="b"/>
              <a:pathLst>
                <a:path w="1746250" h="1822450">
                  <a:moveTo>
                    <a:pt x="1745615" y="0"/>
                  </a:moveTo>
                  <a:lnTo>
                    <a:pt x="0" y="1745615"/>
                  </a:lnTo>
                </a:path>
                <a:path w="1746250" h="1822450">
                  <a:moveTo>
                    <a:pt x="1746250" y="552450"/>
                  </a:moveTo>
                  <a:lnTo>
                    <a:pt x="476250" y="1822323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0" y="0"/>
            <a:ext cx="6858000" cy="685799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57250" y="3429000"/>
            <a:ext cx="3733800" cy="1828800"/>
          </a:xfrm>
          <a:prstGeom prst="rect">
            <a:avLst/>
          </a:prstGeom>
          <a:solidFill>
            <a:srgbClr val="094A3D"/>
          </a:solidFill>
          <a:ln w="15875">
            <a:solidFill>
              <a:srgbClr val="032D45"/>
            </a:solidFill>
          </a:ln>
        </p:spPr>
        <p:txBody>
          <a:bodyPr wrap="square" lIns="0" tIns="222250" rIns="0" bIns="0" rtlCol="0" vert="horz">
            <a:spAutoFit/>
          </a:bodyPr>
          <a:lstStyle/>
          <a:p>
            <a:pPr marL="92075" marR="608330">
              <a:lnSpc>
                <a:spcPct val="100800"/>
              </a:lnSpc>
              <a:spcBef>
                <a:spcPts val="1750"/>
              </a:spcBef>
            </a:pPr>
            <a:r>
              <a:rPr dirty="0" sz="1800" spc="105">
                <a:solidFill>
                  <a:srgbClr val="FFFFFF"/>
                </a:solidFill>
                <a:latin typeface="Trebuchet MS"/>
                <a:cs typeface="Trebuchet MS"/>
              </a:rPr>
              <a:t>Funciona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siguiente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driver CP210xVCPInstaller_x64</a:t>
            </a:r>
            <a:endParaRPr sz="1800">
              <a:latin typeface="Trebuchet MS"/>
              <a:cs typeface="Trebuchet MS"/>
            </a:endParaRPr>
          </a:p>
          <a:p>
            <a:pPr marL="92075">
              <a:lnSpc>
                <a:spcPct val="100000"/>
              </a:lnSpc>
              <a:spcBef>
                <a:spcPts val="15"/>
              </a:spcBef>
            </a:pP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mi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Trebuchet MS"/>
                <a:cs typeface="Trebuchet MS"/>
              </a:rPr>
              <a:t>laptop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juan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piero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  <a:p>
            <a:pPr marL="92075" marR="241935">
              <a:lnSpc>
                <a:spcPct val="1008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driver</a:t>
            </a:r>
            <a:r>
              <a:rPr dirty="0" sz="1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CH341SER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55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270">
                <a:solidFill>
                  <a:srgbClr val="FFFFFF"/>
                </a:solidFill>
                <a:latin typeface="Trebuchet MS"/>
                <a:cs typeface="Trebuchet MS"/>
              </a:rPr>
              <a:t>pc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6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duilio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57250" y="1200150"/>
            <a:ext cx="3733800" cy="1828800"/>
          </a:xfrm>
          <a:prstGeom prst="rect">
            <a:avLst/>
          </a:prstGeom>
          <a:solidFill>
            <a:srgbClr val="094A3D"/>
          </a:solidFill>
          <a:ln w="15875">
            <a:solidFill>
              <a:srgbClr val="032D45"/>
            </a:solidFill>
          </a:ln>
        </p:spPr>
        <p:txBody>
          <a:bodyPr wrap="square" lIns="0" tIns="218440" rIns="0" bIns="0" rtlCol="0" vert="horz">
            <a:spAutoFit/>
          </a:bodyPr>
          <a:lstStyle/>
          <a:p>
            <a:pPr marL="92075" marR="114300">
              <a:lnSpc>
                <a:spcPct val="100899"/>
              </a:lnSpc>
              <a:spcBef>
                <a:spcPts val="1720"/>
              </a:spcBef>
            </a:pPr>
            <a:r>
              <a:rPr dirty="0" sz="1800" spc="114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programar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35">
                <a:solidFill>
                  <a:srgbClr val="FFFFFF"/>
                </a:solidFill>
                <a:latin typeface="Trebuchet MS"/>
                <a:cs typeface="Trebuchet MS"/>
              </a:rPr>
              <a:t>esp32cam </a:t>
            </a:r>
            <a:r>
              <a:rPr dirty="0" sz="1800" spc="120">
                <a:solidFill>
                  <a:srgbClr val="FFFFFF"/>
                </a:solidFill>
                <a:latin typeface="Trebuchet MS"/>
                <a:cs typeface="Trebuchet MS"/>
              </a:rPr>
              <a:t>usamos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Arduino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IDE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2.3.4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85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librería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oficial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MQTT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6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endParaRPr sz="1800">
              <a:latin typeface="Trebuchet MS"/>
              <a:cs typeface="Trebuchet MS"/>
            </a:endParaRPr>
          </a:p>
          <a:p>
            <a:pPr marL="92075" marR="534035">
              <a:lnSpc>
                <a:spcPct val="100800"/>
              </a:lnSpc>
            </a:pP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Joel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Trebuchet MS"/>
                <a:cs typeface="Trebuchet MS"/>
              </a:rPr>
              <a:t>Gaehwiler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5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comunicación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90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 IoT </a:t>
            </a:r>
            <a:r>
              <a:rPr dirty="0" sz="1800" spc="125">
                <a:solidFill>
                  <a:srgbClr val="FFFFFF"/>
                </a:solidFill>
                <a:latin typeface="Trebuchet MS"/>
                <a:cs typeface="Trebuchet MS"/>
              </a:rPr>
              <a:t>Core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66850" y="514350"/>
            <a:ext cx="2505075" cy="485775"/>
          </a:xfrm>
          <a:prstGeom prst="rect"/>
          <a:solidFill>
            <a:srgbClr val="A40D82"/>
          </a:solidFill>
          <a:ln w="15875">
            <a:solidFill>
              <a:srgbClr val="EE47C8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365760">
              <a:lnSpc>
                <a:spcPct val="100000"/>
              </a:lnSpc>
              <a:spcBef>
                <a:spcPts val="765"/>
              </a:spcBef>
            </a:pPr>
            <a:r>
              <a:rPr dirty="0" sz="1800"/>
              <a:t>Firmware</a:t>
            </a:r>
            <a:r>
              <a:rPr dirty="0" sz="1800" spc="60"/>
              <a:t> </a:t>
            </a:r>
            <a:r>
              <a:rPr dirty="0" sz="1800" spc="210"/>
              <a:t>o</a:t>
            </a:r>
            <a:r>
              <a:rPr dirty="0" sz="1800" spc="45"/>
              <a:t> </a:t>
            </a:r>
            <a:r>
              <a:rPr dirty="0" sz="1800" spc="145"/>
              <a:t>algo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dirty="0" spc="110"/>
              <a:t>PRUEBAS</a:t>
            </a:r>
            <a:r>
              <a:rPr dirty="0" spc="-90"/>
              <a:t> </a:t>
            </a:r>
            <a:r>
              <a:rPr dirty="0" spc="600"/>
              <a:t>CON</a:t>
            </a:r>
            <a:r>
              <a:rPr dirty="0" spc="-140"/>
              <a:t> </a:t>
            </a:r>
            <a:r>
              <a:rPr dirty="0" spc="210"/>
              <a:t>LA</a:t>
            </a:r>
            <a:r>
              <a:rPr dirty="0" spc="-135"/>
              <a:t> </a:t>
            </a:r>
            <a:r>
              <a:rPr dirty="0" spc="520"/>
              <a:t>CAMARA </a:t>
            </a:r>
            <a:r>
              <a:rPr dirty="0" spc="70"/>
              <a:t>SIN</a:t>
            </a:r>
            <a:r>
              <a:rPr dirty="0" spc="-75"/>
              <a:t> </a:t>
            </a:r>
            <a:r>
              <a:rPr dirty="0" spc="55"/>
              <a:t>FLASH</a:t>
            </a:r>
            <a:r>
              <a:rPr dirty="0" spc="-20"/>
              <a:t> </a:t>
            </a:r>
            <a:r>
              <a:rPr dirty="0" spc="195"/>
              <a:t>VS</a:t>
            </a:r>
            <a:r>
              <a:rPr dirty="0" spc="-100"/>
              <a:t> </a:t>
            </a:r>
            <a:r>
              <a:rPr dirty="0" spc="600"/>
              <a:t>CON</a:t>
            </a:r>
            <a:r>
              <a:rPr dirty="0" spc="-70"/>
              <a:t> </a:t>
            </a:r>
            <a:r>
              <a:rPr dirty="0" spc="50"/>
              <a:t>FLASH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205335" cy="6858000"/>
            <a:chOff x="0" y="0"/>
            <a:chExt cx="12205335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15501" y="2970276"/>
              <a:ext cx="2976880" cy="3207385"/>
            </a:xfrm>
            <a:custGeom>
              <a:avLst/>
              <a:gdLst/>
              <a:ahLst/>
              <a:cxnLst/>
              <a:rect l="l" t="t" r="r" b="b"/>
              <a:pathLst>
                <a:path w="2976879" h="3207385">
                  <a:moveTo>
                    <a:pt x="2976499" y="0"/>
                  </a:moveTo>
                  <a:lnTo>
                    <a:pt x="2066925" y="909574"/>
                  </a:lnTo>
                </a:path>
                <a:path w="2976879" h="3207385">
                  <a:moveTo>
                    <a:pt x="2976499" y="230758"/>
                  </a:moveTo>
                  <a:lnTo>
                    <a:pt x="0" y="3207219"/>
                  </a:lnTo>
                </a:path>
                <a:path w="2976879" h="3207385">
                  <a:moveTo>
                    <a:pt x="2976499" y="326517"/>
                  </a:moveTo>
                  <a:lnTo>
                    <a:pt x="1085850" y="2217166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444226" y="3138551"/>
              <a:ext cx="1746250" cy="1822450"/>
            </a:xfrm>
            <a:custGeom>
              <a:avLst/>
              <a:gdLst/>
              <a:ahLst/>
              <a:cxnLst/>
              <a:rect l="l" t="t" r="r" b="b"/>
              <a:pathLst>
                <a:path w="1746250" h="1822450">
                  <a:moveTo>
                    <a:pt x="1745615" y="0"/>
                  </a:moveTo>
                  <a:lnTo>
                    <a:pt x="0" y="1745615"/>
                  </a:lnTo>
                </a:path>
                <a:path w="1746250" h="1822450">
                  <a:moveTo>
                    <a:pt x="1746250" y="552450"/>
                  </a:moveTo>
                  <a:lnTo>
                    <a:pt x="476250" y="1822323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970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205335" cy="6858000"/>
            <a:chOff x="0" y="0"/>
            <a:chExt cx="12205335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15501" y="2970276"/>
              <a:ext cx="2976880" cy="3207385"/>
            </a:xfrm>
            <a:custGeom>
              <a:avLst/>
              <a:gdLst/>
              <a:ahLst/>
              <a:cxnLst/>
              <a:rect l="l" t="t" r="r" b="b"/>
              <a:pathLst>
                <a:path w="2976879" h="3207385">
                  <a:moveTo>
                    <a:pt x="2976499" y="0"/>
                  </a:moveTo>
                  <a:lnTo>
                    <a:pt x="2066925" y="909574"/>
                  </a:lnTo>
                </a:path>
                <a:path w="2976879" h="3207385">
                  <a:moveTo>
                    <a:pt x="2976499" y="230758"/>
                  </a:moveTo>
                  <a:lnTo>
                    <a:pt x="0" y="3207219"/>
                  </a:lnTo>
                </a:path>
                <a:path w="2976879" h="3207385">
                  <a:moveTo>
                    <a:pt x="2976499" y="326517"/>
                  </a:moveTo>
                  <a:lnTo>
                    <a:pt x="1085850" y="2217166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444226" y="3138551"/>
              <a:ext cx="1746250" cy="1822450"/>
            </a:xfrm>
            <a:custGeom>
              <a:avLst/>
              <a:gdLst/>
              <a:ahLst/>
              <a:cxnLst/>
              <a:rect l="l" t="t" r="r" b="b"/>
              <a:pathLst>
                <a:path w="1746250" h="1822450">
                  <a:moveTo>
                    <a:pt x="1745615" y="0"/>
                  </a:moveTo>
                  <a:lnTo>
                    <a:pt x="0" y="1745615"/>
                  </a:lnTo>
                </a:path>
                <a:path w="1746250" h="1822450">
                  <a:moveTo>
                    <a:pt x="1746250" y="552450"/>
                  </a:moveTo>
                  <a:lnTo>
                    <a:pt x="476250" y="1822323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375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54301" y="2211641"/>
            <a:ext cx="16522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0">
                <a:solidFill>
                  <a:srgbClr val="FFFFFF"/>
                </a:solidFill>
                <a:latin typeface="Trebuchet MS"/>
                <a:cs typeface="Trebuchet MS"/>
              </a:rPr>
              <a:t>AWS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IOT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70">
                <a:solidFill>
                  <a:srgbClr val="FFFFFF"/>
                </a:solidFill>
                <a:latin typeface="Trebuchet MS"/>
                <a:cs typeface="Trebuchet MS"/>
              </a:rPr>
              <a:t>CORE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238375" y="1038225"/>
            <a:ext cx="3105150" cy="4695825"/>
            <a:chOff x="2238375" y="1038225"/>
            <a:chExt cx="3105150" cy="46958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6675" y="1038225"/>
              <a:ext cx="1295400" cy="142875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8375" y="4171950"/>
              <a:ext cx="1581150" cy="15621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6675" y="4171950"/>
              <a:ext cx="1466850" cy="146685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5473953" y="4754562"/>
            <a:ext cx="16090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5">
                <a:solidFill>
                  <a:srgbClr val="FFFFFF"/>
                </a:solidFill>
                <a:latin typeface="Trebuchet MS"/>
                <a:cs typeface="Trebuchet MS"/>
              </a:rPr>
              <a:t>PERMISOS</a:t>
            </a:r>
            <a:r>
              <a:rPr dirty="0" sz="1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45">
                <a:solidFill>
                  <a:srgbClr val="FFFFFF"/>
                </a:solidFill>
                <a:latin typeface="Trebuchet MS"/>
                <a:cs typeface="Trebuchet MS"/>
              </a:rPr>
              <a:t>IAM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34250" y="1343025"/>
            <a:ext cx="3495675" cy="13049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 spc="-160" b="1">
                <a:latin typeface="Tahoma"/>
                <a:cs typeface="Tahoma"/>
              </a:rPr>
              <a:t>SERVICIOS</a:t>
            </a:r>
            <a:r>
              <a:rPr dirty="0" sz="2000" spc="-20" b="1">
                <a:latin typeface="Tahoma"/>
                <a:cs typeface="Tahoma"/>
              </a:rPr>
              <a:t> </a:t>
            </a:r>
            <a:r>
              <a:rPr dirty="0" sz="2000" spc="-145" b="1">
                <a:latin typeface="Tahoma"/>
                <a:cs typeface="Tahoma"/>
              </a:rPr>
              <a:t>DE</a:t>
            </a:r>
            <a:r>
              <a:rPr dirty="0" sz="2000" spc="-20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AMAZON </a:t>
            </a:r>
            <a:r>
              <a:rPr dirty="0" sz="2000" spc="-95" b="1">
                <a:latin typeface="Tahoma"/>
                <a:cs typeface="Tahoma"/>
              </a:rPr>
              <a:t>USADOS</a:t>
            </a:r>
            <a:r>
              <a:rPr dirty="0" sz="2000" spc="-50" b="1">
                <a:latin typeface="Tahoma"/>
                <a:cs typeface="Tahoma"/>
              </a:rPr>
              <a:t> </a:t>
            </a:r>
            <a:r>
              <a:rPr dirty="0" sz="2000" spc="125" b="1">
                <a:latin typeface="Tahoma"/>
                <a:cs typeface="Tahoma"/>
              </a:rPr>
              <a:t>COMO</a:t>
            </a:r>
            <a:r>
              <a:rPr dirty="0" sz="2000" spc="-20" b="1">
                <a:latin typeface="Tahoma"/>
                <a:cs typeface="Tahoma"/>
              </a:rPr>
              <a:t> NUBE </a:t>
            </a:r>
            <a:r>
              <a:rPr dirty="0" sz="2000" spc="-190" b="1">
                <a:latin typeface="Tahoma"/>
                <a:cs typeface="Tahoma"/>
              </a:rPr>
              <a:t>DEL</a:t>
            </a:r>
            <a:r>
              <a:rPr dirty="0" sz="2000" spc="-40" b="1">
                <a:latin typeface="Tahoma"/>
                <a:cs typeface="Tahoma"/>
              </a:rPr>
              <a:t> </a:t>
            </a:r>
            <a:r>
              <a:rPr dirty="0" sz="2000" spc="-50" b="1">
                <a:latin typeface="Tahoma"/>
                <a:cs typeface="Tahoma"/>
              </a:rPr>
              <a:t>SISTEMA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086099" cy="68579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6099" y="0"/>
              <a:ext cx="9105900" cy="6857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153024" cy="374332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743324"/>
              <a:ext cx="12191999" cy="311467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2550" y="0"/>
              <a:ext cx="7029450" cy="27336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63587" y="4493260"/>
            <a:ext cx="8321675" cy="1004569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45"/>
              </a:spcBef>
            </a:pPr>
            <a:r>
              <a:rPr dirty="0" u="sng" sz="3200" spc="50">
                <a:solidFill>
                  <a:srgbClr val="0D2D46"/>
                </a:solidFill>
                <a:uFill>
                  <a:solidFill>
                    <a:srgbClr val="0D2D46"/>
                  </a:solidFill>
                </a:uFill>
                <a:latin typeface="Trebuchet MS"/>
                <a:cs typeface="Trebuchet MS"/>
              </a:rPr>
              <a:t>HTTPS://WOKWI.COM/PROJECTS/32096404</a:t>
            </a:r>
            <a:r>
              <a:rPr dirty="0" sz="3200" spc="50">
                <a:solidFill>
                  <a:srgbClr val="0D2D46"/>
                </a:solidFill>
                <a:latin typeface="Trebuchet MS"/>
                <a:cs typeface="Trebuchet MS"/>
              </a:rPr>
              <a:t> </a:t>
            </a:r>
            <a:r>
              <a:rPr dirty="0" u="sng" sz="3200" spc="80">
                <a:solidFill>
                  <a:srgbClr val="0D2D46"/>
                </a:solidFill>
                <a:uFill>
                  <a:solidFill>
                    <a:srgbClr val="0D2D46"/>
                  </a:solidFill>
                </a:uFill>
                <a:latin typeface="Trebuchet MS"/>
                <a:cs typeface="Trebuchet MS"/>
              </a:rPr>
              <a:t>5035274834</a:t>
            </a:r>
            <a:r>
              <a:rPr dirty="0" sz="3200" spc="-40">
                <a:solidFill>
                  <a:srgbClr val="0D2D46"/>
                </a:solidFill>
                <a:latin typeface="Trebuchet MS"/>
                <a:cs typeface="Trebuchet MS"/>
              </a:rPr>
              <a:t> </a:t>
            </a:r>
            <a:r>
              <a:rPr dirty="0" sz="3200" spc="210">
                <a:solidFill>
                  <a:srgbClr val="FFFFFF"/>
                </a:solidFill>
                <a:latin typeface="Trebuchet MS"/>
                <a:cs typeface="Trebuchet MS"/>
              </a:rPr>
              <a:t>(SIMULACIÓN</a:t>
            </a:r>
            <a:r>
              <a:rPr dirty="0" sz="3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Trebuchet MS"/>
                <a:cs typeface="Trebuchet MS"/>
              </a:rPr>
              <a:t>STA)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229849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953124" cy="37338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343399"/>
              <a:ext cx="9934574" cy="25145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5650" y="3467099"/>
              <a:ext cx="5086350" cy="33908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3125" y="0"/>
              <a:ext cx="6238875" cy="3467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238749" cy="44862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9125" y="0"/>
              <a:ext cx="7762875" cy="465772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267074"/>
              <a:ext cx="9420224" cy="35909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229849" cy="46577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4800" y="0"/>
              <a:ext cx="4267200" cy="65913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924799" cy="441007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4550" y="4000499"/>
              <a:ext cx="6267450" cy="2857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825"/>
            <a:ext cx="12172949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4062" y="756348"/>
            <a:ext cx="1666239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95">
                <a:solidFill>
                  <a:srgbClr val="0E486E"/>
                </a:solidFill>
                <a:latin typeface="Trebuchet MS"/>
                <a:cs typeface="Trebuchet MS"/>
              </a:rPr>
              <a:t>TECNOLOGIAS</a:t>
            </a:r>
            <a:r>
              <a:rPr dirty="0" sz="1400" spc="10">
                <a:solidFill>
                  <a:srgbClr val="0E486E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0E486E"/>
                </a:solidFill>
                <a:latin typeface="Trebuchet MS"/>
                <a:cs typeface="Trebuchet MS"/>
              </a:rPr>
              <a:t>: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4062" y="1269301"/>
            <a:ext cx="4809490" cy="291592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130">
                <a:solidFill>
                  <a:srgbClr val="FFFFFF"/>
                </a:solidFill>
                <a:latin typeface="Trebuchet MS"/>
                <a:cs typeface="Trebuchet MS"/>
              </a:rPr>
              <a:t>ANDROID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STUDIO</a:t>
            </a:r>
            <a:r>
              <a:rPr dirty="0" sz="1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FFFFFF"/>
                </a:solidFill>
                <a:latin typeface="Trebuchet MS"/>
                <a:cs typeface="Trebuchet MS"/>
              </a:rPr>
              <a:t>API</a:t>
            </a:r>
            <a:r>
              <a:rPr dirty="0" sz="14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26.0</a:t>
            </a:r>
            <a:r>
              <a:rPr dirty="0" sz="14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(8.0)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KOTLIN</a:t>
            </a:r>
            <a:r>
              <a:rPr dirty="0" sz="14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ULTIMA</a:t>
            </a:r>
            <a:r>
              <a:rPr dirty="0" sz="14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75">
                <a:solidFill>
                  <a:srgbClr val="FFFFFF"/>
                </a:solidFill>
                <a:latin typeface="Trebuchet MS"/>
                <a:cs typeface="Trebuchet MS"/>
              </a:rPr>
              <a:t>VERSION</a:t>
            </a:r>
            <a:r>
              <a:rPr dirty="0" sz="14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0E486E"/>
                </a:solidFill>
                <a:latin typeface="Trebuchet MS"/>
                <a:cs typeface="Trebuchet MS"/>
              </a:rPr>
              <a:t>2.2.21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70">
                <a:solidFill>
                  <a:srgbClr val="FFFFFF"/>
                </a:solidFill>
                <a:latin typeface="Trebuchet MS"/>
                <a:cs typeface="Trebuchet MS"/>
              </a:rPr>
              <a:t>SDK</a:t>
            </a:r>
            <a:r>
              <a:rPr dirty="0" sz="14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1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1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40">
                <a:solidFill>
                  <a:srgbClr val="FFFFFF"/>
                </a:solidFill>
                <a:latin typeface="Trebuchet MS"/>
                <a:cs typeface="Trebuchet MS"/>
              </a:rPr>
              <a:t>AMPLIFY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165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14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6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1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40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110">
                <a:solidFill>
                  <a:srgbClr val="FFFFFF"/>
                </a:solidFill>
                <a:latin typeface="Trebuchet MS"/>
                <a:cs typeface="Trebuchet MS"/>
              </a:rPr>
              <a:t>COMPONENTES</a:t>
            </a:r>
            <a:r>
              <a:rPr dirty="0" sz="14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dirty="0" sz="14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100">
                <a:solidFill>
                  <a:srgbClr val="FFFFFF"/>
                </a:solidFill>
                <a:latin typeface="Trebuchet MS"/>
                <a:cs typeface="Trebuchet MS"/>
              </a:rPr>
              <a:t>HARDWARE</a:t>
            </a:r>
            <a:r>
              <a:rPr dirty="0" sz="14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170">
                <a:solidFill>
                  <a:srgbClr val="FFFFFF"/>
                </a:solidFill>
                <a:latin typeface="Trebuchet MS"/>
                <a:cs typeface="Trebuchet MS"/>
              </a:rPr>
              <a:t>MAS</a:t>
            </a:r>
            <a:r>
              <a:rPr dirty="0" sz="14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45">
                <a:solidFill>
                  <a:srgbClr val="FFFFFF"/>
                </a:solidFill>
                <a:latin typeface="Trebuchet MS"/>
                <a:cs typeface="Trebuchet MS"/>
              </a:rPr>
              <a:t>IMPORTANTES</a:t>
            </a:r>
            <a:r>
              <a:rPr dirty="0" sz="14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114">
                <a:solidFill>
                  <a:srgbClr val="FFFFFF"/>
                </a:solidFill>
                <a:latin typeface="Trebuchet MS"/>
                <a:cs typeface="Trebuchet MS"/>
              </a:rPr>
              <a:t>ESP32CAM</a:t>
            </a:r>
            <a:r>
              <a:rPr dirty="0" sz="14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4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75">
                <a:solidFill>
                  <a:srgbClr val="FFFFFF"/>
                </a:solidFill>
                <a:latin typeface="Trebuchet MS"/>
                <a:cs typeface="Trebuchet MS"/>
              </a:rPr>
              <a:t>SENSOR</a:t>
            </a:r>
            <a:r>
              <a:rPr dirty="0" sz="14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rebuchet MS"/>
                <a:cs typeface="Trebuchet MS"/>
              </a:rPr>
              <a:t>PIR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45">
                <a:solidFill>
                  <a:srgbClr val="0E486E"/>
                </a:solidFill>
                <a:latin typeface="Trebuchet MS"/>
                <a:cs typeface="Trebuchet MS"/>
              </a:rPr>
              <a:t>2.2.21</a:t>
            </a:r>
            <a:r>
              <a:rPr dirty="0" sz="1400" spc="45">
                <a:solidFill>
                  <a:srgbClr val="FFFFFF"/>
                </a:solidFill>
                <a:latin typeface="Trebuchet MS"/>
                <a:cs typeface="Trebuchet MS"/>
              </a:rPr>
              <a:t>ARDUINO</a:t>
            </a:r>
            <a:r>
              <a:rPr dirty="0" sz="14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IDE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rebuchet MS"/>
                <a:cs typeface="Trebuchet MS"/>
              </a:rPr>
              <a:t>2.3.4</a:t>
            </a:r>
            <a:r>
              <a:rPr dirty="0" sz="14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95">
                <a:solidFill>
                  <a:srgbClr val="FFFFFF"/>
                </a:solidFill>
                <a:latin typeface="Trebuchet MS"/>
                <a:cs typeface="Trebuchet MS"/>
              </a:rPr>
              <a:t>(C++)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5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r>
              <a:rPr dirty="0" sz="14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75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4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120">
                <a:solidFill>
                  <a:srgbClr val="FFFFFF"/>
                </a:solidFill>
                <a:latin typeface="Trebuchet MS"/>
                <a:cs typeface="Trebuchet MS"/>
              </a:rPr>
              <a:t>LAMBDA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Trebuchet MS"/>
                <a:cs typeface="Trebuchet MS"/>
              </a:rPr>
              <a:t>TYPESCRIPT</a:t>
            </a:r>
            <a:r>
              <a:rPr dirty="0" sz="1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12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40">
                <a:solidFill>
                  <a:srgbClr val="FFFFFF"/>
                </a:solidFill>
                <a:latin typeface="Trebuchet MS"/>
                <a:cs typeface="Trebuchet MS"/>
              </a:rPr>
              <a:t>AMPLIFY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298450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GITHUB</a:t>
            </a:r>
            <a:r>
              <a:rPr dirty="0" sz="1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14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4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dirty="0" sz="14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105">
                <a:solidFill>
                  <a:srgbClr val="FFFFFF"/>
                </a:solidFill>
                <a:latin typeface="Trebuchet MS"/>
                <a:cs typeface="Trebuchet MS"/>
              </a:rPr>
              <a:t>CONTROL</a:t>
            </a:r>
            <a:r>
              <a:rPr dirty="0" sz="14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4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FFFFFF"/>
                </a:solidFill>
                <a:latin typeface="Trebuchet MS"/>
                <a:cs typeface="Trebuchet MS"/>
              </a:rPr>
              <a:t>VERSIONES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2025-12-06T17:23:21Z</dcterms:created>
  <dcterms:modified xsi:type="dcterms:W3CDTF">2025-12-06T17:23:21Z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LastSaved">
    <vt:filetime>2025-12-06T00:00:00Z</vt:filetime>
  </property>
</Properties>
</file>